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61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93408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6C8CFF"/>
                </a:solidFill>
                <a:latin typeface="Segoe UI"/>
              </a:rPr>
              <a:t>ИНЖЕНЕРИЯ ПО · ЭТАП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8521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Тестирование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программ на этапе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000" b="1" i="0">
                <a:solidFill>
                  <a:srgbClr val="34D399"/>
                </a:solidFill>
                <a:latin typeface="Segoe UI"/>
              </a:rPr>
              <a:t>внедрения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Зачем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и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как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тестировать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 dirty="0" err="1">
                <a:solidFill>
                  <a:srgbClr val="C3CAD9"/>
                </a:solidFill>
                <a:latin typeface="Segoe UI"/>
              </a:rPr>
              <a:t>чтобы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запуск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прошёл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без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сюрпризов</a:t>
            </a:r>
            <a:endParaRPr sz="1900" b="0" i="0" dirty="0">
              <a:solidFill>
                <a:srgbClr val="C3CAD9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Что такое этап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  <a:ln w="15875">
            <a:solidFill>
              <a:srgbClr val="2A3552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7242048" y="0"/>
            <a:ext cx="73152" cy="685800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3093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1" i="0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Работает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код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→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пользуются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люди</a:t>
            </a:r>
            <a:endParaRPr sz="20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1" i="0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Меняется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среда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серверы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сети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, ОС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1" i="0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Первые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реальные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пользователи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и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данные</a:t>
            </a:r>
            <a:endParaRPr sz="20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2000" b="1" i="0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Сбой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виден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сразу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— и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стоит</a:t>
            </a:r>
            <a:r>
              <a:rPr sz="20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rgbClr val="C3CAD9"/>
                </a:solidFill>
                <a:latin typeface="Segoe UI"/>
              </a:rPr>
              <a:t>дорого</a:t>
            </a:r>
            <a:endParaRPr sz="2000" b="0" i="0" dirty="0">
              <a:solidFill>
                <a:srgbClr val="C3CAD9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6309360" cy="1005840"/>
          </a:xfrm>
          <a:prstGeom prst="roundRect">
            <a:avLst>
              <a:gd name="adj" fmla="val 12000"/>
            </a:avLst>
          </a:prstGeom>
          <a:solidFill>
            <a:srgbClr val="10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1">
                <a:solidFill>
                  <a:srgbClr val="34D399"/>
                </a:solidFill>
                <a:latin typeface="Segoe UI"/>
              </a:rPr>
              <a:t>«Последний фильтр перед тем, как ошибки начнут стоить в 10–100 раз дороже»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02 / </a:t>
            </a:r>
            <a:r>
              <a:rPr sz="1400" b="1" i="0">
                <a:solidFill>
                  <a:srgbClr val="6C8CFF"/>
                </a:solidFill>
                <a:latin typeface="Segoe UI"/>
              </a:rPr>
              <a:t>ЭТАП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Почему именно здесь — самое важное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3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80% сбоев на внедрении</a:t>
            </a:r>
            <a:r>
              <a:rPr sz="4600" b="1" i="0">
                <a:solidFill>
                  <a:srgbClr val="34D399"/>
                </a:solidFill>
                <a:latin typeface="Segoe UI"/>
              </a:rPr>
              <a:t> — дело окружения: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34D399"/>
                </a:solidFill>
                <a:latin typeface="Segoe UI"/>
              </a:rPr>
              <a:t>конфигурации, права, интеграции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5120640" cy="173736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64008" cy="17373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37083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34D399"/>
                </a:solidFill>
                <a:latin typeface="Segoe UI"/>
              </a:rPr>
              <a:t>×100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40740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дороже исправить дефект в эксплуатации, чем при проектировании (NIST)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120640" cy="1737360"/>
          </a:xfrm>
          <a:prstGeom prst="roundRect">
            <a:avLst>
              <a:gd name="adj" fmla="val 10000"/>
            </a:avLst>
          </a:prstGeom>
          <a:solidFill>
            <a:srgbClr val="0B0F1A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64008" cy="17373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4370832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BBF24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40740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вторых шансов на первое впечатление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Шесть тестов, которые спасают запуск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6C8CFF"/>
                </a:solidFill>
                <a:latin typeface="Segoe UI"/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Дымовое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Smoke — система запускается, ключевые функции живы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34D399"/>
                </a:solidFill>
                <a:latin typeface="Segoe UI"/>
              </a:rPr>
              <a:t>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974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Интеграционное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10896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Связи с СУБД, API, платёжными шлюзами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6" y="1965960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BBF24"/>
                </a:solidFill>
                <a:latin typeface="Segoe UI"/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6974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Миграционное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10896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Данные переехали полностью и без потерь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95928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6C8CFF"/>
                </a:solidFill>
                <a:latin typeface="Segoe U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6460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Нагрузочное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7608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Выдержит реальное число пользователей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3995928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4133088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34D399"/>
                </a:solidFill>
                <a:latin typeface="Segoe UI"/>
              </a:rP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86460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Приёмочное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27608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UAT — пользователи подписывают акт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995928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1896" y="4133088"/>
            <a:ext cx="1097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87171"/>
                </a:solidFill>
                <a:latin typeface="Segoe UI"/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486460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Отката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5276088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C3CAD9"/>
                </a:solidFill>
                <a:latin typeface="Segoe UI"/>
              </a:rPr>
              <a:t>Rollback — вернуть старое из бэкапа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3" y="34649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03.1 / </a:t>
            </a:r>
            <a:r>
              <a:rPr sz="1400" b="1" i="0">
                <a:solidFill>
                  <a:srgbClr val="6C8CFF"/>
                </a:solidFill>
                <a:latin typeface="Segoe UI"/>
              </a:rPr>
              <a:t>ЭТАП ВНЕДРЕНИЯ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" y="0"/>
            <a:ext cx="4480560" cy="6858000"/>
          </a:xfrm>
          <a:prstGeom prst="rect">
            <a:avLst/>
          </a:prstGeom>
          <a:ln w="15875">
            <a:solidFill>
              <a:srgbClr val="2A3552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407408" y="0"/>
            <a:ext cx="73152" cy="685800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37760" y="1737360"/>
            <a:ext cx="6583680" cy="13258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37760" y="1737360"/>
            <a:ext cx="64008" cy="13258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7800" y="1856232"/>
            <a:ext cx="612648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50" b="1" i="0" dirty="0">
                <a:solidFill>
                  <a:srgbClr val="6C8CFF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6C8CFF"/>
                </a:solidFill>
                <a:latin typeface="Segoe UI"/>
              </a:rPr>
              <a:t>Дымовое</a:t>
            </a:r>
            <a:r>
              <a:rPr sz="1750" b="1" i="0" dirty="0">
                <a:solidFill>
                  <a:srgbClr val="6C8CFF"/>
                </a:solidFill>
                <a:latin typeface="Segoe UI"/>
              </a:rPr>
              <a:t> — 15 </a:t>
            </a:r>
            <a:r>
              <a:rPr sz="1750" b="1" i="0" dirty="0" err="1">
                <a:solidFill>
                  <a:srgbClr val="6C8CFF"/>
                </a:solidFill>
                <a:latin typeface="Segoe UI"/>
              </a:rPr>
              <a:t>минут</a:t>
            </a:r>
            <a:r>
              <a:rPr sz="1750" b="1" i="0" dirty="0">
                <a:solidFill>
                  <a:srgbClr val="6C8CFF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6C8CFF"/>
                </a:solidFill>
                <a:latin typeface="Segoe UI"/>
              </a:rPr>
              <a:t>после</a:t>
            </a:r>
            <a:r>
              <a:rPr sz="1750" b="1" i="0" dirty="0">
                <a:solidFill>
                  <a:srgbClr val="6C8CFF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6C8CFF"/>
                </a:solidFill>
                <a:latin typeface="Segoe UI"/>
              </a:rPr>
              <a:t>установки</a:t>
            </a:r>
            <a:endParaRPr sz="1750" b="1" i="0" dirty="0">
              <a:solidFill>
                <a:srgbClr val="6C8CF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57800" y="228600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C3CAD9"/>
                </a:solidFill>
                <a:latin typeface="Segoe UI"/>
              </a:rPr>
              <a:t>Запускается? Логинится? Главный сценарий проходит? Если нет — дальше не идём.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246120"/>
            <a:ext cx="6583680" cy="13258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3246120"/>
            <a:ext cx="64008" cy="1325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3364992"/>
            <a:ext cx="612648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5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34D399"/>
                </a:solidFill>
                <a:latin typeface="Segoe UI"/>
              </a:rPr>
              <a:t>Интеграционное</a:t>
            </a:r>
            <a:r>
              <a:rPr sz="1750" b="1" i="0" dirty="0">
                <a:solidFill>
                  <a:srgbClr val="34D399"/>
                </a:solidFill>
                <a:latin typeface="Segoe UI"/>
              </a:rPr>
              <a:t> — </a:t>
            </a:r>
            <a:r>
              <a:rPr sz="1750" b="1" i="0" dirty="0" err="1">
                <a:solidFill>
                  <a:srgbClr val="34D399"/>
                </a:solidFill>
                <a:latin typeface="Segoe UI"/>
              </a:rPr>
              <a:t>границы</a:t>
            </a:r>
            <a:r>
              <a:rPr sz="175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34D399"/>
                </a:solidFill>
                <a:latin typeface="Segoe UI"/>
              </a:rPr>
              <a:t>системы</a:t>
            </a:r>
            <a:endParaRPr sz="1750" b="1" i="0" dirty="0">
              <a:solidFill>
                <a:srgbClr val="34D399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57800" y="379476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C3CAD9"/>
                </a:solidFill>
                <a:latin typeface="Segoe UI"/>
              </a:rPr>
              <a:t>СУБД, API внешних сервисов, очереди, файловые обмены — каждая связь по тест-карте.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754880"/>
            <a:ext cx="6583680" cy="13258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4754880"/>
            <a:ext cx="64008" cy="1325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800" y="4873752"/>
            <a:ext cx="612648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50" b="1" i="0" dirty="0">
                <a:solidFill>
                  <a:srgbClr val="FBBF24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FBBF24"/>
                </a:solidFill>
                <a:latin typeface="Segoe UI"/>
              </a:rPr>
              <a:t>Журнал</a:t>
            </a:r>
            <a:r>
              <a:rPr sz="1750" b="1" i="0" dirty="0">
                <a:solidFill>
                  <a:srgbClr val="FBBF24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FBBF24"/>
                </a:solidFill>
                <a:latin typeface="Segoe UI"/>
              </a:rPr>
              <a:t>дефектов</a:t>
            </a:r>
            <a:r>
              <a:rPr sz="1750" b="1" i="0" dirty="0">
                <a:solidFill>
                  <a:srgbClr val="FBBF24"/>
                </a:solidFill>
                <a:latin typeface="Segoe UI"/>
              </a:rPr>
              <a:t> с </a:t>
            </a:r>
            <a:r>
              <a:rPr sz="1750" b="1" i="0" dirty="0" err="1">
                <a:solidFill>
                  <a:srgbClr val="FBBF24"/>
                </a:solidFill>
                <a:latin typeface="Segoe UI"/>
              </a:rPr>
              <a:t>первого</a:t>
            </a:r>
            <a:r>
              <a:rPr sz="1750" b="1" i="0" dirty="0">
                <a:solidFill>
                  <a:srgbClr val="FBBF24"/>
                </a:solidFill>
                <a:latin typeface="Segoe UI"/>
              </a:rPr>
              <a:t> </a:t>
            </a:r>
            <a:r>
              <a:rPr sz="1750" b="1" i="0" dirty="0" err="1">
                <a:solidFill>
                  <a:srgbClr val="FBBF24"/>
                </a:solidFill>
                <a:latin typeface="Segoe UI"/>
              </a:rPr>
              <a:t>часа</a:t>
            </a:r>
            <a:endParaRPr sz="1750" b="1" i="0" dirty="0">
              <a:solidFill>
                <a:srgbClr val="FBBF24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57800" y="5303520"/>
            <a:ext cx="6126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C3CAD9"/>
                </a:solidFill>
                <a:latin typeface="Segoe UI"/>
              </a:rPr>
              <a:t>Каждая проблема — с владельцем и статусом. Без журнала дефекты теряются.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0" y="406161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 dirty="0" err="1">
                <a:solidFill>
                  <a:srgbClr val="FFFFFF"/>
                </a:solidFill>
                <a:latin typeface="Segoe UI"/>
              </a:rPr>
              <a:t>Сначала</a:t>
            </a:r>
            <a:r>
              <a:rPr sz="2400" b="1" i="0" dirty="0">
                <a:solidFill>
                  <a:srgbClr val="FFFFFF"/>
                </a:solidFill>
                <a:latin typeface="Segoe UI"/>
              </a:rPr>
              <a:t> — </a:t>
            </a:r>
            <a:r>
              <a:rPr sz="2400" b="1" i="0" dirty="0" err="1">
                <a:solidFill>
                  <a:srgbClr val="FFFFFF"/>
                </a:solidFill>
                <a:latin typeface="Segoe UI"/>
              </a:rPr>
              <a:t>дымовое</a:t>
            </a:r>
            <a:r>
              <a:rPr sz="2400" b="1" i="0" dirty="0">
                <a:solidFill>
                  <a:srgbClr val="FFFFFF"/>
                </a:solidFill>
                <a:latin typeface="Segoe UI"/>
              </a:rPr>
              <a:t> и </a:t>
            </a:r>
            <a:r>
              <a:rPr sz="2400" b="1" i="0" dirty="0" err="1">
                <a:solidFill>
                  <a:srgbClr val="FFFFFF"/>
                </a:solidFill>
                <a:latin typeface="Segoe UI"/>
              </a:rPr>
              <a:t>интеграционное</a:t>
            </a:r>
            <a:endParaRPr sz="2400" b="1" i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 dirty="0" err="1">
                <a:solidFill>
                  <a:srgbClr val="FFFFFF"/>
                </a:solidFill>
                <a:latin typeface="Segoe UI"/>
              </a:rPr>
              <a:t>Миграционное</a:t>
            </a:r>
            <a:r>
              <a:rPr sz="2400" b="1" i="0" dirty="0">
                <a:solidFill>
                  <a:srgbClr val="FFFFFF"/>
                </a:solidFill>
                <a:latin typeface="Segoe UI"/>
              </a:rPr>
              <a:t>: </a:t>
            </a:r>
            <a:r>
              <a:rPr sz="2400" b="1" i="0" dirty="0" err="1">
                <a:solidFill>
                  <a:srgbClr val="FFFFFF"/>
                </a:solidFill>
                <a:latin typeface="Segoe UI"/>
              </a:rPr>
              <a:t>данные</a:t>
            </a:r>
            <a:r>
              <a:rPr sz="2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Segoe UI"/>
              </a:rPr>
              <a:t>дороже</a:t>
            </a:r>
            <a:r>
              <a:rPr sz="2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Segoe UI"/>
              </a:rPr>
              <a:t>кода</a:t>
            </a:r>
            <a:endParaRPr sz="2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16368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6751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900" b="1" i="0" dirty="0">
                <a:solidFill>
                  <a:srgbClr val="FBBF24"/>
                </a:solidFill>
                <a:latin typeface="Segoe UI"/>
              </a:rPr>
              <a:t>▸ 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Сверки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контрольные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суммы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и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количество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записей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до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/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после</a:t>
            </a:r>
            <a:endParaRPr sz="19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900" b="1" i="0" dirty="0">
                <a:solidFill>
                  <a:srgbClr val="FBBF24"/>
                </a:solidFill>
                <a:latin typeface="Segoe UI"/>
              </a:rPr>
              <a:t>▸ 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Репетиция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тестовая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миграция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заранее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,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не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в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день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запуска</a:t>
            </a:r>
            <a:endParaRPr sz="19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900" b="1" i="0" dirty="0">
                <a:solidFill>
                  <a:srgbClr val="FBBF24"/>
                </a:solidFill>
                <a:latin typeface="Segoe UI"/>
              </a:rPr>
              <a:t>▸ 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Дубли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 и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потери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отдельные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проверки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на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дубликаты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и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пустые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поля</a:t>
            </a:r>
            <a:endParaRPr sz="19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1900" b="1" i="0" dirty="0">
                <a:solidFill>
                  <a:srgbClr val="FBBF24"/>
                </a:solidFill>
                <a:latin typeface="Segoe UI"/>
              </a:rPr>
              <a:t>▸ 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Подпись</a:t>
            </a:r>
            <a:r>
              <a:rPr sz="19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Segoe UI"/>
              </a:rPr>
              <a:t>владельца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данные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принимает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тот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,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кто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за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них</a:t>
            </a:r>
            <a:r>
              <a:rPr sz="19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C3CAD9"/>
                </a:solidFill>
                <a:latin typeface="Segoe UI"/>
              </a:rPr>
              <a:t>отвечает</a:t>
            </a:r>
            <a:endParaRPr sz="1900" b="0" i="0" dirty="0">
              <a:solidFill>
                <a:srgbClr val="C3CAD9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Нагрузочное: выдержит ли первый день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7_Types_of_load_testing_Grafana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1920240"/>
            <a:ext cx="10078720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166360"/>
            <a:ext cx="2651760" cy="77724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516636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Smoke — быстрая проверка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5166360"/>
            <a:ext cx="2651760" cy="77724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516636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Average Load — как в жизни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166360"/>
            <a:ext cx="2651760" cy="77724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516636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Stress — выше нормы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5166360"/>
            <a:ext cx="2651760" cy="777240"/>
          </a:xfrm>
          <a:prstGeom prst="roundRect">
            <a:avLst>
              <a:gd name="adj" fmla="val 15000"/>
            </a:avLst>
          </a:prstGeom>
          <a:solidFill>
            <a:srgbClr val="141B2E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16568" y="516636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Spike — резкий всплеск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Прогон с запасом ×2 от ожидаемого трафика — и плавный канареечный запуск.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004" y="228251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dirty="0"/>
              <a:t>03.4 / ЭТАП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3739"/>
            <a:ext cx="4392363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 dirty="0" err="1">
                <a:solidFill>
                  <a:srgbClr val="FFFFFF"/>
                </a:solidFill>
                <a:latin typeface="Segoe UI"/>
              </a:rPr>
              <a:t>Приёмочное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(UAT):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слово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за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бизнесом</a:t>
            </a:r>
            <a:endParaRPr sz="32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8_How_to_Conduct_User_Acceptance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40080"/>
            <a:ext cx="5760720" cy="33036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61888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20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Реальные сценарии</a:t>
            </a:r>
            <a:r>
              <a:rPr sz="2000" b="0" i="0">
                <a:solidFill>
                  <a:srgbClr val="C3CAD9"/>
                </a:solidFill>
                <a:latin typeface="Segoe UI"/>
              </a:rPr>
              <a:t> — «как в жизни», а не «как в спецификации»</a:t>
            </a: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20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Реальные пользователи</a:t>
            </a:r>
            <a:r>
              <a:rPr sz="2000" b="0" i="0">
                <a:solidFill>
                  <a:srgbClr val="C3CAD9"/>
                </a:solidFill>
                <a:latin typeface="Segoe UI"/>
              </a:rPr>
              <a:t> — те, кто будет работать каждый день</a:t>
            </a:r>
          </a:p>
          <a:p>
            <a:pPr algn="l">
              <a:lnSpc>
                <a:spcPct val="118000"/>
              </a:lnSpc>
              <a:spcAft>
                <a:spcPts val="1700"/>
              </a:spcAft>
            </a:pPr>
            <a:r>
              <a:rPr sz="2000" b="1" i="0">
                <a:solidFill>
                  <a:srgbClr val="34D399"/>
                </a:solidFill>
                <a:latin typeface="Segoe UI"/>
              </a:rPr>
              <a:t>▸  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Акт подписи</a:t>
            </a:r>
            <a:r>
              <a:rPr sz="2000" b="0" i="0">
                <a:solidFill>
                  <a:srgbClr val="C3CAD9"/>
                </a:solidFill>
                <a:latin typeface="Segoe UI"/>
              </a:rPr>
              <a:t> — формальное принятие системы в эксплуатацию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5029200" cy="1005840"/>
          </a:xfrm>
          <a:prstGeom prst="roundRect">
            <a:avLst>
              <a:gd name="adj" fmla="val 12000"/>
            </a:avLst>
          </a:prstGeom>
          <a:solidFill>
            <a:srgbClr val="10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 dirty="0" err="1">
                <a:solidFill>
                  <a:srgbClr val="34D399"/>
                </a:solidFill>
                <a:latin typeface="Segoe UI"/>
              </a:rPr>
              <a:t>Нет</a:t>
            </a:r>
            <a:r>
              <a:rPr sz="17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700" b="1" i="0" dirty="0" err="1">
                <a:solidFill>
                  <a:srgbClr val="34D399"/>
                </a:solidFill>
                <a:latin typeface="Segoe UI"/>
              </a:rPr>
              <a:t>подписи</a:t>
            </a:r>
            <a:r>
              <a:rPr sz="1700" b="1" i="0" dirty="0">
                <a:solidFill>
                  <a:srgbClr val="34D399"/>
                </a:solidFill>
                <a:latin typeface="Segoe UI"/>
              </a:rPr>
              <a:t> — </a:t>
            </a:r>
            <a:r>
              <a:rPr sz="1700" b="1" i="0" dirty="0" err="1">
                <a:solidFill>
                  <a:srgbClr val="34D399"/>
                </a:solidFill>
                <a:latin typeface="Segoe UI"/>
              </a:rPr>
              <a:t>нет</a:t>
            </a:r>
            <a:r>
              <a:rPr sz="17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700" b="1" i="0" dirty="0" err="1">
                <a:solidFill>
                  <a:srgbClr val="34D399"/>
                </a:solidFill>
                <a:latin typeface="Segoe UI"/>
              </a:rPr>
              <a:t>запуска</a:t>
            </a:r>
            <a:r>
              <a:rPr sz="1700" b="1" i="0" dirty="0">
                <a:solidFill>
                  <a:srgbClr val="34D399"/>
                </a:solidFill>
                <a:latin typeface="Segoe UI"/>
              </a:rPr>
              <a:t>. </a:t>
            </a:r>
            <a:r>
              <a:rPr sz="1700" b="1" i="0" dirty="0" err="1">
                <a:solidFill>
                  <a:srgbClr val="34D399"/>
                </a:solidFill>
                <a:latin typeface="Segoe UI"/>
              </a:rPr>
              <a:t>Точка</a:t>
            </a:r>
            <a:r>
              <a:rPr sz="1700" b="1" i="0" dirty="0">
                <a:solidFill>
                  <a:srgbClr val="34D399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Тест отката: страховка, которую репетируют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4708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Свежий бэкап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6771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снят прямо перед окном внедрения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9008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Восстановление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1071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отрепетировано на стенде, есть замеры времени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3308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Runbook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пошаговая инструкция отката — на бумаге, не в голове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7608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Триггер решения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96712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3CAD9"/>
                </a:solidFill>
                <a:latin typeface="Segoe UI"/>
              </a:rPr>
              <a:t>заранее: какие метрики = стоп и откат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057900"/>
            <a:ext cx="10881360" cy="685800"/>
          </a:xfrm>
          <a:prstGeom prst="roundRect">
            <a:avLst>
              <a:gd name="adj" fmla="val 15000"/>
            </a:avLst>
          </a:prstGeom>
          <a:solidFill>
            <a:srgbClr val="2A1414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602485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 dirty="0" err="1">
                <a:solidFill>
                  <a:srgbClr val="F87171"/>
                </a:solidFill>
                <a:latin typeface="Segoe UI"/>
              </a:rPr>
              <a:t>План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отката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,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который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ни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разу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не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проверяли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, —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это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не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план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, а </a:t>
            </a:r>
            <a:r>
              <a:rPr sz="1600" b="1" i="0" dirty="0" err="1">
                <a:solidFill>
                  <a:srgbClr val="F87171"/>
                </a:solidFill>
                <a:latin typeface="Segoe UI"/>
              </a:rPr>
              <a:t>надежда</a:t>
            </a:r>
            <a:r>
              <a:rPr sz="1600" b="1" i="0" dirty="0">
                <a:solidFill>
                  <a:srgbClr val="F8717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04 / </a:t>
            </a:r>
            <a:r>
              <a:rPr sz="1400" b="1" i="0">
                <a:solidFill>
                  <a:srgbClr val="6C8CFF"/>
                </a:solidFill>
                <a:latin typeface="Segoe UI"/>
              </a:rPr>
              <a:t>ЭТАП ВНЕДРЕНИЯ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306429"/>
            <a:ext cx="55168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 dirty="0" err="1">
                <a:solidFill>
                  <a:srgbClr val="FFFFFF"/>
                </a:solidFill>
                <a:latin typeface="Segoe UI"/>
              </a:rPr>
              <a:t>Окружение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: «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работало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у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меня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»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не</a:t>
            </a:r>
            <a:r>
              <a:rPr sz="3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200" b="1" i="0" dirty="0" err="1">
                <a:solidFill>
                  <a:srgbClr val="FFFFFF"/>
                </a:solidFill>
                <a:latin typeface="Segoe UI"/>
              </a:rPr>
              <a:t>считается</a:t>
            </a:r>
            <a:endParaRPr sz="32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80560" cy="6858000"/>
          </a:xfrm>
          <a:prstGeom prst="rect">
            <a:avLst/>
          </a:prstGeom>
          <a:ln w="15875">
            <a:solidFill>
              <a:srgbClr val="2A3552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407408" y="0"/>
            <a:ext cx="73152" cy="685800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783080"/>
            <a:ext cx="65836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900" b="1" i="0">
                <a:solidFill>
                  <a:srgbClr val="6C8CFF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Стенд = прод</a:t>
            </a:r>
            <a:r>
              <a:rPr sz="1900" b="0" i="0">
                <a:solidFill>
                  <a:srgbClr val="C3CAD9"/>
                </a:solidFill>
                <a:latin typeface="Segoe UI"/>
              </a:rPr>
              <a:t> те же версии ОС, СУБД, сеть, балансировщики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900" b="1" i="0">
                <a:solidFill>
                  <a:srgbClr val="6C8CFF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Права и сертификаты</a:t>
            </a:r>
            <a:r>
              <a:rPr sz="1900" b="0" i="0">
                <a:solidFill>
                  <a:srgbClr val="C3CAD9"/>
                </a:solidFill>
                <a:latin typeface="Segoe UI"/>
              </a:rPr>
              <a:t> учётки, TLS, межсетевые экраны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900" b="1" i="0">
                <a:solidFill>
                  <a:srgbClr val="6C8CFF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Конфиги среды</a:t>
            </a:r>
            <a:r>
              <a:rPr sz="1900" b="0" i="0">
                <a:solidFill>
                  <a:srgbClr val="C3CAD9"/>
                </a:solidFill>
                <a:latin typeface="Segoe UI"/>
              </a:rPr>
              <a:t> частейшая причина падений на проде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900" b="1" i="0">
                <a:solidFill>
                  <a:srgbClr val="6C8CFF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Мониторинг до запуска</a:t>
            </a:r>
            <a:r>
              <a:rPr sz="1900" b="0" i="0">
                <a:solidFill>
                  <a:srgbClr val="C3CAD9"/>
                </a:solidFill>
                <a:latin typeface="Segoe UI"/>
              </a:rPr>
              <a:t> алёрты должны звонить заранее</a:t>
            </a:r>
          </a:p>
          <a:p>
            <a:pPr algn="l">
              <a:lnSpc>
                <a:spcPct val="115000"/>
              </a:lnSpc>
              <a:spcAft>
                <a:spcPts val="1500"/>
              </a:spcAft>
            </a:pPr>
            <a:r>
              <a:rPr sz="1900" b="1" i="0">
                <a:solidFill>
                  <a:srgbClr val="6C8CFF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Тест чистой установки</a:t>
            </a:r>
            <a:r>
              <a:rPr sz="1900" b="0" i="0">
                <a:solidFill>
                  <a:srgbClr val="C3CAD9"/>
                </a:solidFill>
                <a:latin typeface="Segoe UI"/>
              </a:rPr>
              <a:t> с нуля, как на новом сервере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Процесс: семь шагов до запуска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1. План и критерии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7832" y="24231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2. Стенд = прод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4231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3. Установка + Smoke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4231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9202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9202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4. Интеграция + миграция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5. Нагрузка + регресс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4251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7490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7490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6. UAT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4251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749040"/>
            <a:ext cx="2606040" cy="15544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749040"/>
            <a:ext cx="233172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Segoe UI"/>
              </a:rPr>
              <a:t>7. Go / No-Go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6072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10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Запас времени в окне внедрения и готовый откат — обязательные условия.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Пять ловушек и как их обойти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431417"/>
              </p:ext>
            </p:extLst>
          </p:nvPr>
        </p:nvGraphicFramePr>
        <p:xfrm>
          <a:off x="640080" y="18288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C8CFF"/>
                          </a:solidFill>
                          <a:latin typeface="Segoe UI"/>
                        </a:rPr>
                        <a:t>ЛОВУШКА</a:t>
                      </a: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C8CFF"/>
                          </a:solidFill>
                          <a:latin typeface="Segoe UI"/>
                        </a:rPr>
                        <a:t>КАК ИЗБЕЖАТЬ</a:t>
                      </a: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«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Работало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на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моей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машине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»</a:t>
                      </a: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3CAD9"/>
                          </a:solidFill>
                          <a:latin typeface="Segoe UI"/>
                        </a:rPr>
                        <a:t>Единые окружения, контейнеры, автоматизация развёртывания</a:t>
                      </a: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Потеря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данных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при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миграции</a:t>
                      </a:r>
                      <a:endParaRPr sz="15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3CAD9"/>
                          </a:solidFill>
                          <a:latin typeface="Segoe UI"/>
                        </a:rPr>
                        <a:t>Сверки, контрольные суммы, репетиция заранее</a:t>
                      </a: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Недооценённая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нагрузка</a:t>
                      </a:r>
                      <a:endParaRPr sz="15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3CAD9"/>
                          </a:solidFill>
                          <a:latin typeface="Segoe UI"/>
                        </a:rPr>
                        <a:t>Тест с запасом ×2, канареечный запуск</a:t>
                      </a: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Нет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плана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отката</a:t>
                      </a:r>
                      <a:endParaRPr sz="15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C3CAD9"/>
                          </a:solidFill>
                          <a:latin typeface="Segoe UI"/>
                        </a:rPr>
                        <a:t>Репетиция на стенде, свежие бэкапы, runbook</a:t>
                      </a:r>
                    </a:p>
                  </a:txBody>
                  <a:tcPr marT="50800" marB="50800">
                    <a:solidFill>
                      <a:srgbClr val="10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Пользователи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не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Segoe U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готовы</a:t>
                      </a:r>
                      <a:endParaRPr sz="15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C3CAD9"/>
                          </a:solidFill>
                          <a:latin typeface="Segoe UI"/>
                        </a:rPr>
                        <a:t>Обучение</a:t>
                      </a:r>
                      <a:r>
                        <a:rPr sz="1500" b="0" dirty="0">
                          <a:solidFill>
                            <a:srgbClr val="C3CAD9"/>
                          </a:solidFill>
                          <a:latin typeface="Segoe UI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C3CAD9"/>
                          </a:solidFill>
                          <a:latin typeface="Segoe UI"/>
                        </a:rPr>
                        <a:t>инструкции</a:t>
                      </a:r>
                      <a:r>
                        <a:rPr sz="1500" b="0" dirty="0">
                          <a:solidFill>
                            <a:srgbClr val="C3CAD9"/>
                          </a:solidFill>
                          <a:latin typeface="Segoe UI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C3CAD9"/>
                          </a:solidFill>
                          <a:latin typeface="Segoe UI"/>
                        </a:rPr>
                        <a:t>поддержка</a:t>
                      </a:r>
                      <a:r>
                        <a:rPr sz="1500" b="0" dirty="0">
                          <a:solidFill>
                            <a:srgbClr val="C3CAD9"/>
                          </a:solidFill>
                          <a:latin typeface="Segoe U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C3CAD9"/>
                          </a:solidFill>
                          <a:latin typeface="Segoe UI"/>
                        </a:rPr>
                        <a:t>первой</a:t>
                      </a:r>
                      <a:r>
                        <a:rPr sz="1500" b="0" dirty="0">
                          <a:solidFill>
                            <a:srgbClr val="C3CAD9"/>
                          </a:solidFill>
                          <a:latin typeface="Segoe U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C3CAD9"/>
                          </a:solidFill>
                          <a:latin typeface="Segoe UI"/>
                        </a:rPr>
                        <a:t>линии</a:t>
                      </a:r>
                      <a:endParaRPr sz="1500" b="0" dirty="0">
                        <a:solidFill>
                          <a:srgbClr val="C3CAD9"/>
                        </a:solidFill>
                        <a:latin typeface="Segoe UI"/>
                      </a:endParaRPr>
                    </a:p>
                  </a:txBody>
                  <a:tcPr marT="50800" marB="50800">
                    <a:solidFill>
                      <a:srgbClr val="14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Go / No-Go: чек-лист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46304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_Illustration_of_a_checklist_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09800"/>
            <a:ext cx="3657600" cy="2438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56448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0" cy="26378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Дефекты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критические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закрыты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,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блокирующих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—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ноль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Данные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сверки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подписаны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владельцами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Нагрузка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SLA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выполняются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UAT: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акт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подписан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заказчиком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Откат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отрепетирован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,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бэкапы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живые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800" b="1" i="0" dirty="0">
                <a:solidFill>
                  <a:srgbClr val="34D399"/>
                </a:solidFill>
                <a:latin typeface="Segoe UI"/>
              </a:rPr>
              <a:t>  </a:t>
            </a:r>
            <a:r>
              <a:rPr sz="1800" b="1" i="0" dirty="0" err="1">
                <a:solidFill>
                  <a:srgbClr val="FFFFFF"/>
                </a:solidFill>
                <a:latin typeface="Segoe UI"/>
              </a:rPr>
              <a:t>Поддержка</a:t>
            </a:r>
            <a:r>
              <a:rPr sz="18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на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связи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в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окно</a:t>
            </a:r>
            <a:r>
              <a:rPr sz="1800" b="0" i="0" dirty="0">
                <a:solidFill>
                  <a:srgbClr val="C3CAD9"/>
                </a:solidFill>
                <a:latin typeface="Segoe UI"/>
              </a:rPr>
              <a:t> </a:t>
            </a:r>
            <a:r>
              <a:rPr sz="1800" b="0" i="0" dirty="0" err="1">
                <a:solidFill>
                  <a:srgbClr val="C3CAD9"/>
                </a:solidFill>
                <a:latin typeface="Segoe UI"/>
              </a:rPr>
              <a:t>запуска</a:t>
            </a:r>
            <a:endParaRPr sz="1800" b="0" i="0" dirty="0">
              <a:solidFill>
                <a:srgbClr val="C3CAD9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7315200" cy="1051560"/>
          </a:xfrm>
          <a:prstGeom prst="roundRect">
            <a:avLst>
              <a:gd name="adj" fmla="val 10000"/>
            </a:avLst>
          </a:prstGeom>
          <a:solidFill>
            <a:srgbClr val="2A2110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67665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 i="0">
                <a:solidFill>
                  <a:srgbClr val="C3CAD9"/>
                </a:solidFill>
                <a:latin typeface="Segoe UI"/>
              </a:rPr>
              <a:t>Один пункт не выполнен — </a:t>
            </a:r>
            <a:r>
              <a:rPr sz="1600" b="1" i="0">
                <a:solidFill>
                  <a:srgbClr val="FBBF24"/>
                </a:solidFill>
                <a:latin typeface="Segoe UI"/>
              </a:rPr>
              <a:t>No-Go</a:t>
            </a:r>
            <a:r>
              <a:rPr sz="1600" b="0" i="0">
                <a:solidFill>
                  <a:srgbClr val="C3CAD9"/>
                </a:solidFill>
                <a:latin typeface="Segoe UI"/>
              </a:rPr>
              <a:t>. Дешевле подождать неделю, чем чинить прод в панике.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4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Тестируй до запуска —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 i="0">
                <a:solidFill>
                  <a:srgbClr val="34D399"/>
                </a:solidFill>
                <a:latin typeface="Segoe UI"/>
              </a:rPr>
              <a:t>спи после него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C3CAD9"/>
                </a:solidFill>
                <a:latin typeface="Segoe UI"/>
              </a:rPr>
              <a:t>Внедрение — последний рубеж обороны качества.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 i="0">
                <a:solidFill>
                  <a:srgbClr val="C3CAD9"/>
                </a:solidFill>
                <a:latin typeface="Segoe UI"/>
              </a:rPr>
              <a:t>Программа, прошедшая через него, начинает жизнь с доверия пользователей.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8B93A7"/>
                </a:solidFill>
                <a:latin typeface="Segoe UI"/>
              </a:rPr>
              <a:t>Спасибо за внимание ·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731</Words>
  <Application>Microsoft Office PowerPoint</Application>
  <PresentationFormat>Широкоэкранный</PresentationFormat>
  <Paragraphs>125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Рустам</cp:lastModifiedBy>
  <cp:revision>3</cp:revision>
  <dcterms:created xsi:type="dcterms:W3CDTF">2013-01-27T09:14:16Z</dcterms:created>
  <dcterms:modified xsi:type="dcterms:W3CDTF">2026-10-09T02:01:06Z</dcterms:modified>
  <cp:category/>
</cp:coreProperties>
</file>